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e663d3d804d5b" /><Relationship Type="http://schemas.openxmlformats.org/officeDocument/2006/relationships/extended-properties" Target="/docProps/app.xml" Id="R3bb03549a25e494d" /><Relationship Type="http://schemas.openxmlformats.org/officeDocument/2006/relationships/officeDocument" Target="/ppt/presentation.xml" Id="Rdb09ee8cbc5c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0d7428a254e76"/>
  </p:sldMasterIdLst>
  <p:notesMasterIdLst>
    <p:notesMasterId xmlns:r="http://schemas.openxmlformats.org/officeDocument/2006/relationships" r:id="R43222fa865664f91"/>
  </p:notesMasterIdLst>
  <p:sldIdLst>
    <p:sldId xmlns:r="http://schemas.openxmlformats.org/officeDocument/2006/relationships" id="256" r:id="R0c88c41ec98b4fd3"/>
    <p:sldId xmlns:r="http://schemas.openxmlformats.org/officeDocument/2006/relationships" id="257" r:id="Rcbf1a477f40b44da"/>
    <p:sldId xmlns:r="http://schemas.openxmlformats.org/officeDocument/2006/relationships" id="258" r:id="Rb83afc2419d74b22"/>
    <p:sldId xmlns:r="http://schemas.openxmlformats.org/officeDocument/2006/relationships" id="259" r:id="R7647b11fea4144a9"/>
    <p:sldId xmlns:r="http://schemas.openxmlformats.org/officeDocument/2006/relationships" id="260" r:id="R8c04fe522f544eb2"/>
    <p:sldId xmlns:r="http://schemas.openxmlformats.org/officeDocument/2006/relationships" id="261" r:id="R124fcd98f26742e4"/>
    <p:sldId xmlns:r="http://schemas.openxmlformats.org/officeDocument/2006/relationships" id="262" r:id="R93c2d0a499e14b55"/>
    <p:sldId xmlns:r="http://schemas.openxmlformats.org/officeDocument/2006/relationships" id="263" r:id="Rded47ac0c3664e4d"/>
    <p:sldId xmlns:r="http://schemas.openxmlformats.org/officeDocument/2006/relationships" id="264" r:id="Rab299a63d5e3450c"/>
    <p:sldId xmlns:r="http://schemas.openxmlformats.org/officeDocument/2006/relationships" id="265" r:id="Rad93e3e5a3ba41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1ba3725d44f06" /><Relationship Type="http://schemas.openxmlformats.org/officeDocument/2006/relationships/slideMaster" Target="/ppt/slideMasters/slideMaster1.xml" Id="R8090d7428a254e76" /><Relationship Type="http://schemas.openxmlformats.org/officeDocument/2006/relationships/notesMaster" Target="/ppt/notesMasters/notesMaster1.xml" Id="R43222fa865664f91" /><Relationship Type="http://schemas.openxmlformats.org/officeDocument/2006/relationships/presProps" Target="/ppt/presProps.xml" Id="Ra1ff4b695753416b" /><Relationship Type="http://schemas.openxmlformats.org/officeDocument/2006/relationships/tableStyles" Target="/ppt/tableStyles.xml" Id="R3d9d3e0e88ab4ed1" /><Relationship Type="http://schemas.openxmlformats.org/officeDocument/2006/relationships/slide" Target="/ppt/slides/slide1.xml" Id="R0c88c41ec98b4fd3" /><Relationship Type="http://schemas.openxmlformats.org/officeDocument/2006/relationships/slide" Target="/ppt/slides/slide2.xml" Id="Rcbf1a477f40b44da" /><Relationship Type="http://schemas.openxmlformats.org/officeDocument/2006/relationships/slide" Target="/ppt/slides/slide3.xml" Id="Rb83afc2419d74b22" /><Relationship Type="http://schemas.openxmlformats.org/officeDocument/2006/relationships/slide" Target="/ppt/slides/slide4.xml" Id="R7647b11fea4144a9" /><Relationship Type="http://schemas.openxmlformats.org/officeDocument/2006/relationships/slide" Target="/ppt/slides/slide5.xml" Id="R8c04fe522f544eb2" /><Relationship Type="http://schemas.openxmlformats.org/officeDocument/2006/relationships/slide" Target="/ppt/slides/slide6.xml" Id="R124fcd98f26742e4" /><Relationship Type="http://schemas.openxmlformats.org/officeDocument/2006/relationships/slide" Target="/ppt/slides/slide7.xml" Id="R93c2d0a499e14b55" /><Relationship Type="http://schemas.openxmlformats.org/officeDocument/2006/relationships/slide" Target="/ppt/slides/slide8.xml" Id="Rded47ac0c3664e4d" /><Relationship Type="http://schemas.openxmlformats.org/officeDocument/2006/relationships/slide" Target="/ppt/slides/slide9.xml" Id="Rab299a63d5e3450c" /><Relationship Type="http://schemas.openxmlformats.org/officeDocument/2006/relationships/slide" Target="/ppt/slides/slide10.xml" Id="Rad93e3e5a3ba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5aade3762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e3c6a344643dc" /><Relationship Type="http://schemas.openxmlformats.org/officeDocument/2006/relationships/notesMaster" Target="/ppt/notesMasters/notesMaster1.xml" Id="R14f9f7f83b58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21f4d01dd1478a" /><Relationship Type="http://schemas.openxmlformats.org/officeDocument/2006/relationships/notesMaster" Target="/ppt/notesMasters/notesMaster1.xml" Id="Rbcc1722e8d3040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5cada318b4f34" /><Relationship Type="http://schemas.openxmlformats.org/officeDocument/2006/relationships/notesMaster" Target="/ppt/notesMasters/notesMaster1.xml" Id="R52ec51f98cd1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1a3f7dcad4eba" /><Relationship Type="http://schemas.openxmlformats.org/officeDocument/2006/relationships/notesMaster" Target="/ppt/notesMasters/notesMaster1.xml" Id="Reba08dfde72d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a5f014b124d23" /><Relationship Type="http://schemas.openxmlformats.org/officeDocument/2006/relationships/notesMaster" Target="/ppt/notesMasters/notesMaster1.xml" Id="R56437b1d973444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df3eaecee2425d" /><Relationship Type="http://schemas.openxmlformats.org/officeDocument/2006/relationships/notesMaster" Target="/ppt/notesMasters/notesMaster1.xml" Id="R0ec9effb3e2f49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0e227c9c1f458f" /><Relationship Type="http://schemas.openxmlformats.org/officeDocument/2006/relationships/notesMaster" Target="/ppt/notesMasters/notesMaster1.xml" Id="R7cb4d7cdb48f4c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f86fc9f2e548a4" /><Relationship Type="http://schemas.openxmlformats.org/officeDocument/2006/relationships/notesMaster" Target="/ppt/notesMasters/notesMaster1.xml" Id="R31a1633172a048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a95f1335fb4cc1" /><Relationship Type="http://schemas.openxmlformats.org/officeDocument/2006/relationships/notesMaster" Target="/ppt/notesMasters/notesMaster1.xml" Id="Rb10ae73ede3c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d8063009c54467" /><Relationship Type="http://schemas.openxmlformats.org/officeDocument/2006/relationships/notesMaster" Target="/ppt/notesMasters/notesMaster1.xml" Id="R571359585e27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turns the playbook into a small executable system.</a:t>
            </a:r>
          </a:p>
          <a:p xmlns:a="http://schemas.openxmlformats.org/drawingml/2006/main">
            <a:r>
              <a:t>The implementation is deliberately offline and deterministic so every graph edge can be inspected.</a:t>
            </a:r>
          </a:p>
          <a:p xmlns:a="http://schemas.openxmlformats.org/drawingml/2006/main">
            <a:r>
              <a:t>Source: Graph-Engineering-Athropic-Playbook.pdf.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playbook explicitly positions RAG and knowledge graphs as complementary.</a:t>
            </a:r>
          </a:p>
          <a:p xmlns:a="http://schemas.openxmlformats.org/drawingml/2006/main">
            <a:r>
              <a:t>Use RAG for direct retrieval; use the graph when entity-level links carry the reasoning.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is a sequence of typed boundaries rather than a monolithic agent framework.</a:t>
            </a:r>
          </a:p>
          <a:p xmlns:a="http://schemas.openxmlformats.org/drawingml/2006/main">
            <a:r>
              <a:t>The evaluation loop is part of the architecture, not an afterthought.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worker has its own context and source document.</a:t>
            </a:r>
          </a:p>
          <a:p xmlns:a="http://schemas.openxmlformats.org/drawingml/2006/main">
            <a:r>
              <a:t>Compatibility comes from the shared entity-relation contract, not from passing prose through the orchestrator.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uses a fixture alias group to keep execution deterministic.</a:t>
            </a:r>
          </a:p>
          <a:p xmlns:a="http://schemas.openxmlformats.org/drawingml/2006/main">
            <a:r>
              <a:t>In production, a reasoning model clusters names by type and description, but every alias must still appear exactly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isolates judgment from mechanics.</a:t>
            </a:r>
          </a:p>
          <a:p xmlns:a="http://schemas.openxmlformats.org/drawingml/2006/main">
            <a:r>
              <a:t>Fixtures stand in for extraction and resolution; graph assembly, traversal, provenance, synthesis, and evaluation are real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seed entity is Acme Corp.</a:t>
            </a:r>
          </a:p>
          <a:p xmlns:a="http://schemas.openxmlformats.org/drawingml/2006/main">
            <a:r>
              <a:t>Two hops reach the price and the patent's subject while preserving all five edge citations.</a:t>
            </a:r>
          </a:p>
          <a:p xmlns:a="http://schemas.openxmlformats.org/drawingml/2006/main">
            <a:r>
              <a:t>No worker had the combined subgraph in its own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is explicit and machine-checkable.</a:t>
            </a:r>
          </a:p>
          <a:p xmlns:a="http://schemas.openxmlformats.org/drawingml/2006/main">
            <a:r>
              <a:t>The conclusion is presented as an inference so the graph remains a fact store rather than a decision-maker.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Supported means the exact canonical edge exists.</a:t>
            </a:r>
          </a:p>
          <a:p xmlns:a="http://schemas.openxmlformats.org/drawingml/2006/main">
            <a:r>
              <a:t>Contradicted means the same subject and object are connected by a different predicate.</a:t>
            </a:r>
          </a:p>
          <a:p xmlns:a="http://schemas.openxmlformats.org/drawingml/2006/main">
            <a:r>
              <a:t>Unsupported is not automatically false; it means the graph lacks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deterministic system first and inspect its output.</a:t>
            </a:r>
          </a:p>
          <a:p xmlns:a="http://schemas.openxmlformats.org/drawingml/2006/main">
            <a:r>
              <a:t>Then replace only the extraction and resolution fixtures with measured model calls.</a:t>
            </a:r>
          </a:p>
          <a:p xmlns:a="http://schemas.openxmlformats.org/drawingml/2006/main">
            <a:r>
              <a:t>Do not ship without an evaluation set and provenance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841345629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971e7c908641ae" /><Relationship Type="http://schemas.openxmlformats.org/officeDocument/2006/relationships/slideLayout" Target="/ppt/slideLayouts/slideLayout1.xml" Id="R6fdb5b52ea8d41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db5b52ea8d41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5fc7b3be44fbe" /><Relationship Type="http://schemas.openxmlformats.org/officeDocument/2006/relationships/notesSlide" Target="/ppt/notesSlides/notesSlide1.xml" Id="Ra261adde991e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ed1b5f7584ddc" /><Relationship Type="http://schemas.openxmlformats.org/officeDocument/2006/relationships/notesSlide" Target="/ppt/notesSlides/notesSlide2.xml" Id="Re69c1d7fc03a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3d352af5e498a" /><Relationship Type="http://schemas.openxmlformats.org/officeDocument/2006/relationships/notesSlide" Target="/ppt/notesSlides/notesSlide3.xml" Id="R59431dc829f1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dc2401444284" /><Relationship Type="http://schemas.openxmlformats.org/officeDocument/2006/relationships/notesSlide" Target="/ppt/notesSlides/notesSlide4.xml" Id="R1c0c6035bf2d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d7299c61a4274" /><Relationship Type="http://schemas.openxmlformats.org/officeDocument/2006/relationships/notesSlide" Target="/ppt/notesSlides/notesSlide5.xml" Id="R2ce755c67f33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ca32fd4f44e3e" /><Relationship Type="http://schemas.openxmlformats.org/officeDocument/2006/relationships/notesSlide" Target="/ppt/notesSlides/notesSlide6.xml" Id="Ra0882be6621b4e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5bdbf82a242aa" /><Relationship Type="http://schemas.openxmlformats.org/officeDocument/2006/relationships/notesSlide" Target="/ppt/notesSlides/notesSlide7.xml" Id="R5b909c73f2764d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1d222fa964acc" /><Relationship Type="http://schemas.openxmlformats.org/officeDocument/2006/relationships/notesSlide" Target="/ppt/notesSlides/notesSlide8.xml" Id="R0383a9acab9842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35e3ce91a4619" /><Relationship Type="http://schemas.openxmlformats.org/officeDocument/2006/relationships/notesSlide" Target="/ppt/notesSlides/notesSlide9.xml" Id="R46bc07da03004d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b4debe8c645f7" /><Relationship Type="http://schemas.openxmlformats.org/officeDocument/2006/relationships/notesSlide" Target="/ppt/notesSlides/notesSlide10.xml" Id="R0f1de1a99b4942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5EF6AE1-A10D-4A88-B3C7-BCAC036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ENGINEERING NOTE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407C2F-A3D3-49F8-B397-CECBD35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minimal knowledge graph</a:t>
            </a:r>
          </a:p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 multi-agent memory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F953B72-59F6-49F8-8CE5-6300134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B219FA-E58E-40F0-8226-22FF31E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 runnable JavaScript example distilled from the Anthropic playbook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86EBC005-9324-49E1-986F-DBB24B3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Extraction fixtures  |  alias resolution  |  provenance graph  |  2-hop query  |  claim checks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9084986E-E2F1-41F7-B3A0-ECE4856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6949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B2C0614-BAB9-4565-8BFC-ED6E98B9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graph earns its complexity when facts must connect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3371922-DD59-43B6-A023-9A7C114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935EC5C3-CCC4-4A33-BDDC-69D7AEF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pp. 1-2 and 11.</a:t>
            </a:r>
          </a:p>
        </p:txBody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96BA619B-F32C-4DC5-BED2-08BBD8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decision-lede">
            <a:extLst xmlns:a="http://schemas.openxmlformats.org/drawingml/2006/main">
              <a:ext uri="{FF2B5EF4-FFF2-40B4-BE49-F238E27FC236}">
                <a16:creationId xmlns:a16="http://schemas.microsoft.com/office/drawing/2014/main" id="{DC0D3EF8-1DD0-4183-B7F2-A43BE31B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decision is not graph versus RAG. It is whether the answer exists in one passage or must be assembled across sources and sessions.</a:t>
            </a:r>
          </a:p>
        </p:txBody>
      </p:sp>
      <p:sp>
        <p:nvSpPr>
          <p:cNvPr id="6" name="rag-region">
            <a:extLst xmlns:a="http://schemas.openxmlformats.org/drawingml/2006/main">
              <a:ext uri="{FF2B5EF4-FFF2-40B4-BE49-F238E27FC236}">
                <a16:creationId xmlns:a16="http://schemas.microsoft.com/office/drawing/2014/main" id="{FBB488A5-9A8B-4D25-BEA7-6EE520F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51911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graph-region">
            <a:extLst xmlns:a="http://schemas.openxmlformats.org/drawingml/2006/main">
              <a:ext uri="{FF2B5EF4-FFF2-40B4-BE49-F238E27FC236}">
                <a16:creationId xmlns:a16="http://schemas.microsoft.com/office/drawing/2014/main" id="{FAD2F964-3EA7-419E-B0A6-1130800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28875"/>
            <a:ext cx="56864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rag-title">
            <a:extLst xmlns:a="http://schemas.openxmlformats.org/drawingml/2006/main">
              <a:ext uri="{FF2B5EF4-FFF2-40B4-BE49-F238E27FC236}">
                <a16:creationId xmlns:a16="http://schemas.microsoft.com/office/drawing/2014/main" id="{BB204CBD-17C9-45CA-B277-3BBF4C5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RAG / direct context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66C7C7CA-1B0B-4633-9600-80E1A41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solidFill>
              <a:srgbClr val="5F6368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37C4EE0-C19A-4879-9821-4F16F56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Single-document answer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58C12AC2-3B3B-46A1-8CC7-38DA889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solidFill>
              <a:srgbClr val="5F6368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04ED8C0-9DAF-445E-997D-53BE92A8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Multi-document but single-hop retrieval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1C42AB9B-67DA-49D3-9E7B-C6AB71B6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solidFill>
              <a:srgbClr val="5F6368"/>
            </a:solidFill>
            <a:prstDash val="solid"/>
          </a:ln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6891F66-1EA4-49E5-80F6-E6463BDD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durable shared state required</a:t>
            </a:r>
          </a:p>
        </p:txBody>
      </p:sp>
      <p:sp>
        <p:nvSpPr>
          <p:cNvPr id="15" name="graph-title">
            <a:extLst xmlns:a="http://schemas.openxmlformats.org/drawingml/2006/main">
              <a:ext uri="{FF2B5EF4-FFF2-40B4-BE49-F238E27FC236}">
                <a16:creationId xmlns:a16="http://schemas.microsoft.com/office/drawing/2014/main" id="{D96ED6AD-720C-499B-B644-F8CE3DA7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Knowledge graph</a:t>
            </a:r>
          </a:p>
        </p:txBody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56560D65-9865-4124-8669-5F9AD33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3A51F95-4A45-493B-842D-82D04E5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Multi-hop facts cross document boundaries</a:t>
            </a:r>
          </a:p>
        </p:txBody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89CCF784-9E6A-4173-9AA5-2461D0B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2BE0B462-7279-464C-91AD-744EF2A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48125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Workers need a shared world model</a:t>
            </a:r>
          </a:p>
        </p:txBody>
      </p:sp>
      <p:sp>
        <p:nvSpPr>
          <p:cNvPr id="20" name="bullet">
            <a:extLst xmlns:a="http://schemas.openxmlformats.org/drawingml/2006/main">
              <a:ext uri="{FF2B5EF4-FFF2-40B4-BE49-F238E27FC236}">
                <a16:creationId xmlns:a16="http://schemas.microsoft.com/office/drawing/2014/main" id="{DA5314F3-3508-40B1-97AC-8776461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45BE340-B563-45AF-A954-BA70EA2D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464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Answers must cite structured evidence</a:t>
            </a:r>
          </a:p>
        </p:txBody>
      </p:sp>
    </p:spTree>
    <p:extLst>
      <p:ext uri="{BB962C8B-B14F-4D97-AF65-F5344CB8AC3E}">
        <p14:creationId xmlns:p14="http://schemas.microsoft.com/office/powerpoint/2010/main" val="1410965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2BEE0AD-4CC8-401C-9F5F-2033B70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playbook is a four-stage contract with a feedback loop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9B9DC64-B703-4D3D-8696-CE17C387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13C500B5-3F46-43EA-A737-63272B1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pp. 1 and 3-7.</a:t>
            </a:r>
          </a:p>
        </p:txBody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377AC4BB-29AA-4682-B23D-DAE4022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851BD3F-603D-47F6-A269-DF7E7D2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568DD7C-5251-4289-9145-82523655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9FE362F0-05F9-4A89-89A6-35E3FFA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37B7D85E-3D93-4080-B08D-DED94A3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6ADD23EC-4479-4EAB-9257-6F7C42A1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24E5068D-A66E-4AF7-A94D-6485F33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BEA5CF54-E583-423C-B560-F667BDB9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Typed entities and short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S-P-O relations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8431CB48-DEC2-40AC-A25C-3E67AE3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3362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D9959C7A-23FD-47BC-A63E-964EB7A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6C1837A-F895-4F34-95E0-D44B787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5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5B0E1A3B-C726-4573-93B6-D8B3F465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Cluster aliases by type;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retain every input name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23B17226-6D75-4349-9D54-E89C3D5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F3E3A68C-3B9C-45A9-BDB3-5250DE7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6881C4A-9D28-4487-944B-CDA78FF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Assemble</a:t>
            </a:r>
          </a:p>
        </p:txBody>
      </p:sp>
      <p:sp>
        <p:nvSpPr>
          <p:cNvPr id="19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3EB76C01-8216-4751-AEFE-D0562A32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Directed edges with source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20" name="stage-4">
            <a:extLst xmlns:a="http://schemas.openxmlformats.org/drawingml/2006/main">
              <a:ext uri="{FF2B5EF4-FFF2-40B4-BE49-F238E27FC236}">
                <a16:creationId xmlns:a16="http://schemas.microsoft.com/office/drawing/2014/main" id="{D94C450E-647E-4BDA-BA4A-C9EE2C71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5527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D96243FC-DAD6-47C2-A7D9-8E5B9B4A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01E8DCD6-03BA-4BF4-86F0-0379B810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051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</p:txBody>
      </p:sp>
      <p:sp>
        <p:nvSpPr>
          <p:cNvPr id="23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430EB1A6-41DD-475F-90A8-A5F9DD8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Serialize a 2-hop subgraph;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cite each supporting edge</a:t>
            </a:r>
          </a:p>
        </p:txBody>
      </p:sp>
      <p:sp>
        <p:nvSpPr>
          <p:cNvPr id="24" name="feedback-band">
            <a:extLst xmlns:a="http://schemas.openxmlformats.org/drawingml/2006/main">
              <a:ext uri="{FF2B5EF4-FFF2-40B4-BE49-F238E27FC236}">
                <a16:creationId xmlns:a16="http://schemas.microsoft.com/office/drawing/2014/main" id="{FC0BE259-F6FE-4953-A803-C7A24C6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752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5" name="feedback-text">
            <a:extLst xmlns:a="http://schemas.openxmlformats.org/drawingml/2006/main">
              <a:ext uri="{FF2B5EF4-FFF2-40B4-BE49-F238E27FC236}">
                <a16:creationId xmlns:a16="http://schemas.microsoft.com/office/drawing/2014/main" id="{C8149A59-F071-4DD7-BC4C-A6F36D4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Evaluation: tune prompt  -&gt;  score  -&gt;  compare precision / recall / F1</a:t>
            </a:r>
          </a:p>
        </p:txBody>
      </p:sp>
    </p:spTree>
    <p:extLst>
      <p:ext uri="{BB962C8B-B14F-4D97-AF65-F5344CB8AC3E}">
        <p14:creationId xmlns:p14="http://schemas.microsoft.com/office/powerpoint/2010/main" val="1891948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2218103-DC78-4976-A3C6-2C3F47F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workers feed one shared graph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BBA9785-FCC9-46F6-AE4B-102CC25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F9C347E5-B5EE-4055-AD46-7839649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pp. 6 and 10-11. Example: examples/graph-memory/demo.mjs.</a:t>
            </a:r>
          </a:p>
        </p:txBody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3A9D656-FA80-4890-88B0-3304A689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worker-1">
            <a:extLst xmlns:a="http://schemas.openxmlformats.org/drawingml/2006/main">
              <a:ext uri="{FF2B5EF4-FFF2-40B4-BE49-F238E27FC236}">
                <a16:creationId xmlns:a16="http://schemas.microsoft.com/office/drawing/2014/main" id="{C9DEDB16-7C77-4EC5-8358-67911AE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worker-1-index">
            <a:extLst xmlns:a="http://schemas.openxmlformats.org/drawingml/2006/main">
              <a:ext uri="{FF2B5EF4-FFF2-40B4-BE49-F238E27FC236}">
                <a16:creationId xmlns:a16="http://schemas.microsoft.com/office/drawing/2014/main" id="{2DE9B3F5-E431-4A7A-9339-B2295944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worker-1-title">
            <a:extLst xmlns:a="http://schemas.openxmlformats.org/drawingml/2006/main">
              <a:ext uri="{FF2B5EF4-FFF2-40B4-BE49-F238E27FC236}">
                <a16:creationId xmlns:a16="http://schemas.microsoft.com/office/drawing/2014/main" id="{D45BE313-75B4-4B4D-9295-5ECFED17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Pricing worker</a:t>
            </a:r>
          </a:p>
        </p:txBody>
      </p:sp>
      <p:sp>
        <p:nvSpPr>
          <p:cNvPr id="8" name="worker-1-doc">
            <a:extLst xmlns:a="http://schemas.openxmlformats.org/drawingml/2006/main">
              <a:ext uri="{FF2B5EF4-FFF2-40B4-BE49-F238E27FC236}">
                <a16:creationId xmlns:a16="http://schemas.microsoft.com/office/drawing/2014/main" id="{F8086BE2-4C9F-4E1B-8BB9-AA0CF836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pricing-q3.html</a:t>
            </a:r>
          </a:p>
        </p:txBody>
      </p:sp>
      <p:sp>
        <p:nvSpPr>
          <p:cNvPr id="9" name="worker-1-facts">
            <a:extLst xmlns:a="http://schemas.openxmlformats.org/drawingml/2006/main">
              <a:ext uri="{FF2B5EF4-FFF2-40B4-BE49-F238E27FC236}">
                <a16:creationId xmlns:a16="http://schemas.microsoft.com/office/drawing/2014/main" id="{2FE4B352-6536-454D-BD3B-C52A170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876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(acme) --[offers]--&gt; (Acme Core)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(Acme Core) --[priced at]--&gt; ($85/month)</a:t>
            </a:r>
          </a:p>
        </p:txBody>
      </p:sp>
      <p:sp>
        <p:nvSpPr>
          <p:cNvPr id="10" name="worker-2">
            <a:extLst xmlns:a="http://schemas.openxmlformats.org/drawingml/2006/main">
              <a:ext uri="{FF2B5EF4-FFF2-40B4-BE49-F238E27FC236}">
                <a16:creationId xmlns:a16="http://schemas.microsoft.com/office/drawing/2014/main" id="{9F544C4E-EC0F-4735-879A-AE4245D2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6690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worker-2-index">
            <a:extLst xmlns:a="http://schemas.openxmlformats.org/drawingml/2006/main">
              <a:ext uri="{FF2B5EF4-FFF2-40B4-BE49-F238E27FC236}">
                <a16:creationId xmlns:a16="http://schemas.microsoft.com/office/drawing/2014/main" id="{01B9BB16-B738-4C00-8BCF-83A5C1F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worker-2-title">
            <a:extLst xmlns:a="http://schemas.openxmlformats.org/drawingml/2006/main">
              <a:ext uri="{FF2B5EF4-FFF2-40B4-BE49-F238E27FC236}">
                <a16:creationId xmlns:a16="http://schemas.microsoft.com/office/drawing/2014/main" id="{93990EC3-C52C-4D00-A6F4-3765F38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 worker</a:t>
            </a:r>
          </a:p>
        </p:txBody>
      </p:sp>
      <p:sp>
        <p:nvSpPr>
          <p:cNvPr id="13" name="worker-2-doc">
            <a:extLst xmlns:a="http://schemas.openxmlformats.org/drawingml/2006/main">
              <a:ext uri="{FF2B5EF4-FFF2-40B4-BE49-F238E27FC236}">
                <a16:creationId xmlns:a16="http://schemas.microsoft.com/office/drawing/2014/main" id="{286631D1-317B-43C3-A0DC-5D0818B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09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patent-px9.txt</a:t>
            </a:r>
          </a:p>
        </p:txBody>
      </p:sp>
      <p:sp>
        <p:nvSpPr>
          <p:cNvPr id="14" name="worker-2-facts">
            <a:extLst xmlns:a="http://schemas.openxmlformats.org/drawingml/2006/main">
              <a:ext uri="{FF2B5EF4-FFF2-40B4-BE49-F238E27FC236}">
                <a16:creationId xmlns:a16="http://schemas.microsoft.com/office/drawing/2014/main" id="{5561E51E-E7AA-4A11-A7D7-38571A2D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2876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(ACME Corporation) --[filed]--&gt; (PX-9 patent)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(PX-9 patent) --[covers]--&gt; (edge inference engine)</a:t>
            </a:r>
          </a:p>
        </p:txBody>
      </p:sp>
      <p:sp>
        <p:nvSpPr>
          <p:cNvPr id="15" name="worker-3">
            <a:extLst xmlns:a="http://schemas.openxmlformats.org/drawingml/2006/main">
              <a:ext uri="{FF2B5EF4-FFF2-40B4-BE49-F238E27FC236}">
                <a16:creationId xmlns:a16="http://schemas.microsoft.com/office/drawing/2014/main" id="{224DFFF8-501A-45D8-A823-4634FF6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3333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worker-3-index">
            <a:extLst xmlns:a="http://schemas.openxmlformats.org/drawingml/2006/main">
              <a:ext uri="{FF2B5EF4-FFF2-40B4-BE49-F238E27FC236}">
                <a16:creationId xmlns:a16="http://schemas.microsoft.com/office/drawing/2014/main" id="{C341C0C5-C567-4C2C-BB29-9987ACA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worker-3-title">
            <a:extLst xmlns:a="http://schemas.openxmlformats.org/drawingml/2006/main">
              <a:ext uri="{FF2B5EF4-FFF2-40B4-BE49-F238E27FC236}">
                <a16:creationId xmlns:a16="http://schemas.microsoft.com/office/drawing/2014/main" id="{5F0A5AED-8F6E-4FBC-80D4-CF9935AA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Finance worker</a:t>
            </a:r>
          </a:p>
        </p:txBody>
      </p:sp>
      <p:sp>
        <p:nvSpPr>
          <p:cNvPr id="18" name="worker-3-doc">
            <a:extLst xmlns:a="http://schemas.openxmlformats.org/drawingml/2006/main">
              <a:ext uri="{FF2B5EF4-FFF2-40B4-BE49-F238E27FC236}">
                <a16:creationId xmlns:a16="http://schemas.microsoft.com/office/drawing/2014/main" id="{6C663194-C954-4517-BF1D-89AA84C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q3-filing.txt</a:t>
            </a:r>
          </a:p>
        </p:txBody>
      </p:sp>
      <p:sp>
        <p:nvSpPr>
          <p:cNvPr id="19" name="worker-3-facts">
            <a:extLst xmlns:a="http://schemas.openxmlformats.org/drawingml/2006/main">
              <a:ext uri="{FF2B5EF4-FFF2-40B4-BE49-F238E27FC236}">
                <a16:creationId xmlns:a16="http://schemas.microsoft.com/office/drawing/2014/main" id="{3BD9732C-62FC-4547-9CFE-2A175A2B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2876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(Acme Corp) --[doubled]--&gt; (R&amp;D spending)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Each edge keeps its source document.</a:t>
            </a:r>
          </a:p>
        </p:txBody>
      </p:sp>
    </p:spTree>
    <p:extLst>
      <p:ext uri="{BB962C8B-B14F-4D97-AF65-F5344CB8AC3E}">
        <p14:creationId xmlns:p14="http://schemas.microsoft.com/office/powerpoint/2010/main" val="1111136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E9D0739-969F-4AA6-AB62-59D064E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Resolution turns three spellings into one company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8A91624-2A92-4234-A37E-6C123FEF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2D0590DD-EBAF-4A58-B09A-48E3B80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pp. 3-4. Example: examples/graph-memory/demo.mjs.</a:t>
            </a:r>
          </a:p>
        </p:txBody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8FAC284-2916-4D85-9020-8267927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resolution-lede">
            <a:extLst xmlns:a="http://schemas.openxmlformats.org/drawingml/2006/main">
              <a:ext uri="{FF2B5EF4-FFF2-40B4-BE49-F238E27FC236}">
                <a16:creationId xmlns:a16="http://schemas.microsoft.com/office/drawing/2014/main" id="{42353486-39BB-4167-94E5-9791EE42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Descriptions are the disambiguation signal; the output is an alias map with a lossless fallback for unmatched names.</a:t>
            </a:r>
          </a:p>
        </p:txBody>
      </p:sp>
      <p:sp>
        <p:nvSpPr>
          <p:cNvPr id="6" name="alias-1">
            <a:extLst xmlns:a="http://schemas.openxmlformats.org/drawingml/2006/main">
              <a:ext uri="{FF2B5EF4-FFF2-40B4-BE49-F238E27FC236}">
                <a16:creationId xmlns:a16="http://schemas.microsoft.com/office/drawing/2014/main" id="{7061FD81-78B6-4516-8637-775D886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lias-1-text">
            <a:extLst xmlns:a="http://schemas.openxmlformats.org/drawingml/2006/main">
              <a:ext uri="{FF2B5EF4-FFF2-40B4-BE49-F238E27FC236}">
                <a16:creationId xmlns:a16="http://schemas.microsoft.com/office/drawing/2014/main" id="{858C3645-67EB-4FED-9942-E3C239E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</a:t>
            </a:r>
          </a:p>
        </p:txBody>
      </p:sp>
      <p:sp>
        <p:nvSpPr>
          <p:cNvPr id="8" name="alias-arrow-1">
            <a:extLst xmlns:a="http://schemas.openxmlformats.org/drawingml/2006/main">
              <a:ext uri="{FF2B5EF4-FFF2-40B4-BE49-F238E27FC236}">
                <a16:creationId xmlns:a16="http://schemas.microsoft.com/office/drawing/2014/main" id="{978B5461-8212-4E26-939D-0EF98EF5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14625"/>
            <a:ext cx="1123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alias-2">
            <a:extLst xmlns:a="http://schemas.openxmlformats.org/drawingml/2006/main">
              <a:ext uri="{FF2B5EF4-FFF2-40B4-BE49-F238E27FC236}">
                <a16:creationId xmlns:a16="http://schemas.microsoft.com/office/drawing/2014/main" id="{21C9FEF0-1E3A-4CCE-9C4F-6E6103F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lias-2-text">
            <a:extLst xmlns:a="http://schemas.openxmlformats.org/drawingml/2006/main">
              <a:ext uri="{FF2B5EF4-FFF2-40B4-BE49-F238E27FC236}">
                <a16:creationId xmlns:a16="http://schemas.microsoft.com/office/drawing/2014/main" id="{612B5BAD-32F2-44BC-8928-BA87648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 Corporation</a:t>
            </a:r>
          </a:p>
        </p:txBody>
      </p:sp>
      <p:sp>
        <p:nvSpPr>
          <p:cNvPr id="11" name="alias-arrow-2">
            <a:extLst xmlns:a="http://schemas.openxmlformats.org/drawingml/2006/main">
              <a:ext uri="{FF2B5EF4-FFF2-40B4-BE49-F238E27FC236}">
                <a16:creationId xmlns:a16="http://schemas.microsoft.com/office/drawing/2014/main" id="{BF737C09-833A-4DC4-BF90-1FF3DE73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123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alias-3">
            <a:extLst xmlns:a="http://schemas.openxmlformats.org/drawingml/2006/main">
              <a:ext uri="{FF2B5EF4-FFF2-40B4-BE49-F238E27FC236}">
                <a16:creationId xmlns:a16="http://schemas.microsoft.com/office/drawing/2014/main" id="{D976F571-A554-46E6-966D-089AF7F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lias-3-text">
            <a:extLst xmlns:a="http://schemas.openxmlformats.org/drawingml/2006/main">
              <a:ext uri="{FF2B5EF4-FFF2-40B4-BE49-F238E27FC236}">
                <a16:creationId xmlns:a16="http://schemas.microsoft.com/office/drawing/2014/main" id="{55A2D70A-0218-416E-B12F-1FE8E779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 Corp</a:t>
            </a:r>
          </a:p>
        </p:txBody>
      </p:sp>
      <p:sp>
        <p:nvSpPr>
          <p:cNvPr id="14" name="alias-arrow-3">
            <a:extLst xmlns:a="http://schemas.openxmlformats.org/drawingml/2006/main">
              <a:ext uri="{FF2B5EF4-FFF2-40B4-BE49-F238E27FC236}">
                <a16:creationId xmlns:a16="http://schemas.microsoft.com/office/drawing/2014/main" id="{660EE01F-9F4D-4328-AF29-B512F195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1123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canonical-node">
            <a:extLst xmlns:a="http://schemas.openxmlformats.org/drawingml/2006/main">
              <a:ext uri="{FF2B5EF4-FFF2-40B4-BE49-F238E27FC236}">
                <a16:creationId xmlns:a16="http://schemas.microsoft.com/office/drawing/2014/main" id="{CC7CD310-7E39-4A53-B7A1-C5DCA36B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476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6" name="canonical-label">
            <a:extLst xmlns:a="http://schemas.openxmlformats.org/drawingml/2006/main">
              <a:ext uri="{FF2B5EF4-FFF2-40B4-BE49-F238E27FC236}">
                <a16:creationId xmlns:a16="http://schemas.microsoft.com/office/drawing/2014/main" id="{AC61681F-DFB2-424D-8C1F-9740D3FD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Canonical node</a:t>
            </a:r>
          </a:p>
        </p:txBody>
      </p:sp>
      <p:sp>
        <p:nvSpPr>
          <p:cNvPr id="17" name="canonical-name">
            <a:extLst xmlns:a="http://schemas.openxmlformats.org/drawingml/2006/main">
              <a:ext uri="{FF2B5EF4-FFF2-40B4-BE49-F238E27FC236}">
                <a16:creationId xmlns:a16="http://schemas.microsoft.com/office/drawing/2014/main" id="{8DAFB541-A8CB-414A-A7F0-1A794267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Acme Corp</a:t>
            </a:r>
          </a:p>
        </p:txBody>
      </p:sp>
      <p:sp>
        <p:nvSpPr>
          <p:cNvPr id="18" name="canonical-metric">
            <a:extLst xmlns:a="http://schemas.openxmlformats.org/drawingml/2006/main">
              <a:ext uri="{FF2B5EF4-FFF2-40B4-BE49-F238E27FC236}">
                <a16:creationId xmlns:a16="http://schemas.microsoft.com/office/drawing/2014/main" id="{E78DE171-8FEF-4B53-9A56-D43F7743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3 source spellings  -&gt;  1 shared identity</a:t>
            </a:r>
          </a:p>
        </p:txBody>
      </p:sp>
    </p:spTree>
    <p:extLst>
      <p:ext uri="{BB962C8B-B14F-4D97-AF65-F5344CB8AC3E}">
        <p14:creationId xmlns:p14="http://schemas.microsoft.com/office/powerpoint/2010/main" val="1000366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23ED123-0E27-46F7-A48F-5DCFAFC1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implementation keeps graph mechanics deterministic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23198DC-A0BD-4490-AC69-20B17AC2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91558E69-E330-4E11-959E-4662711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examples/graph-memory/demo.mjs and demo.test.mjs. Playbook basis: pp. 3-5.</a:t>
            </a:r>
          </a:p>
        </p:txBody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65122CEC-E919-422B-A99E-21FE184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code-region">
            <a:extLst xmlns:a="http://schemas.openxmlformats.org/drawingml/2006/main">
              <a:ext uri="{FF2B5EF4-FFF2-40B4-BE49-F238E27FC236}">
                <a16:creationId xmlns:a16="http://schemas.microsoft.com/office/drawing/2014/main" id="{32A71815-1DA3-45F9-A8F5-1C5EB6D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953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solidFill>
              <a:srgbClr val="151719"/>
            </a:solidFill>
            <a:prstDash val="solid"/>
          </a:ln>
        </p:spPr>
      </p:sp>
      <p:sp>
        <p:nvSpPr>
          <p:cNvPr id="6" name="code-kicker">
            <a:extLst xmlns:a="http://schemas.openxmlformats.org/drawingml/2006/main">
              <a:ext uri="{FF2B5EF4-FFF2-40B4-BE49-F238E27FC236}">
                <a16:creationId xmlns:a16="http://schemas.microsoft.com/office/drawing/2014/main" id="{DB0FC825-C01F-4407-8453-1D66E8E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EDF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D0EDFA"/>
                </a:solidFill>
                <a:latin typeface="Menlo"/>
                <a:ea typeface="Menlo"/>
                <a:cs typeface="Menlo"/>
              </a:rPr>
              <a:t>THE CONTRACT</a:t>
            </a:r>
          </a:p>
        </p:txBody>
      </p:sp>
      <p:sp>
        <p:nvSpPr>
          <p:cNvPr id="7" name="code-text">
            <a:extLst xmlns:a="http://schemas.openxmlformats.org/drawingml/2006/main">
              <a:ext uri="{FF2B5EF4-FFF2-40B4-BE49-F238E27FC236}">
                <a16:creationId xmlns:a16="http://schemas.microsoft.com/office/drawing/2014/main" id="{114BB402-C793-4816-9F2B-AA60B9F7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2862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relation = 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predicate,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target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edge = {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...relation,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provenance: { worker, document }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subgraph(center, hops = 2)</a:t>
            </a:r>
          </a:p>
        </p:txBody>
      </p:sp>
      <p:sp>
        <p:nvSpPr>
          <p:cNvPr id="8" name="implementation-step-1-index">
            <a:extLst xmlns:a="http://schemas.openxmlformats.org/drawingml/2006/main">
              <a:ext uri="{FF2B5EF4-FFF2-40B4-BE49-F238E27FC236}">
                <a16:creationId xmlns:a16="http://schemas.microsoft.com/office/drawing/2014/main" id="{EF68893B-3693-4884-B748-0A7B0BA2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97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implementation-step-1-label">
            <a:extLst xmlns:a="http://schemas.openxmlformats.org/drawingml/2006/main">
              <a:ext uri="{FF2B5EF4-FFF2-40B4-BE49-F238E27FC236}">
                <a16:creationId xmlns:a16="http://schemas.microsoft.com/office/drawing/2014/main" id="{3B241736-A166-421A-8FAF-20D0F861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97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Fixture extraction</a:t>
            </a:r>
          </a:p>
        </p:txBody>
      </p:sp>
      <p:sp>
        <p:nvSpPr>
          <p:cNvPr id="10" name="implementation-step-1-detail">
            <a:extLst xmlns:a="http://schemas.openxmlformats.org/drawingml/2006/main">
              <a:ext uri="{FF2B5EF4-FFF2-40B4-BE49-F238E27FC236}">
                <a16:creationId xmlns:a16="http://schemas.microsoft.com/office/drawing/2014/main" id="{5E3B526D-BBC1-47AC-A0C5-8C60FFFC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907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Schema-shaped worker outputs keep the demo API-free.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CADA66E0-9843-4C51-99A4-DBA9284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implementation-step-2-index">
            <a:extLst xmlns:a="http://schemas.openxmlformats.org/drawingml/2006/main">
              <a:ext uri="{FF2B5EF4-FFF2-40B4-BE49-F238E27FC236}">
                <a16:creationId xmlns:a16="http://schemas.microsoft.com/office/drawing/2014/main" id="{3EE4CB79-4D7D-4E14-804B-3BDB7139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implementation-step-2-label">
            <a:extLst xmlns:a="http://schemas.openxmlformats.org/drawingml/2006/main">
              <a:ext uri="{FF2B5EF4-FFF2-40B4-BE49-F238E27FC236}">
                <a16:creationId xmlns:a16="http://schemas.microsoft.com/office/drawing/2014/main" id="{3BE68EED-710C-49B6-9766-0394AF5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Alias map</a:t>
            </a:r>
          </a:p>
        </p:txBody>
      </p:sp>
      <p:sp>
        <p:nvSpPr>
          <p:cNvPr id="14" name="implementation-step-2-detail">
            <a:extLst xmlns:a="http://schemas.openxmlformats.org/drawingml/2006/main">
              <a:ext uri="{FF2B5EF4-FFF2-40B4-BE49-F238E27FC236}">
                <a16:creationId xmlns:a16="http://schemas.microsoft.com/office/drawing/2014/main" id="{0A3E7B0C-5E6A-4BF1-B223-62CC5EE7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670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Surface forms resolve before nodes and edges are created.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3844B6C-2F28-45E8-B0A4-A35BEDA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051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implementation-step-3-index">
            <a:extLst xmlns:a="http://schemas.openxmlformats.org/drawingml/2006/main">
              <a:ext uri="{FF2B5EF4-FFF2-40B4-BE49-F238E27FC236}">
                <a16:creationId xmlns:a16="http://schemas.microsoft.com/office/drawing/2014/main" id="{C7D1F89C-A8FA-4CDD-8BD4-51C267C7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623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implementation-step-3-label">
            <a:extLst xmlns:a="http://schemas.openxmlformats.org/drawingml/2006/main">
              <a:ext uri="{FF2B5EF4-FFF2-40B4-BE49-F238E27FC236}">
                <a16:creationId xmlns:a16="http://schemas.microsoft.com/office/drawing/2014/main" id="{58B27B63-D5EB-4CA5-B8BB-E01EF562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623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GraphMemory</a:t>
            </a:r>
          </a:p>
        </p:txBody>
      </p:sp>
      <p:sp>
        <p:nvSpPr>
          <p:cNvPr id="18" name="implementation-step-3-detail">
            <a:extLst xmlns:a="http://schemas.openxmlformats.org/drawingml/2006/main">
              <a:ext uri="{FF2B5EF4-FFF2-40B4-BE49-F238E27FC236}">
                <a16:creationId xmlns:a16="http://schemas.microsoft.com/office/drawing/2014/main" id="{2A0C7B64-E8CD-4B7E-9624-80578BF3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43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Directed edges carry worker and document provenance.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3AAA923-8866-4676-BC4C-BDBB7ED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814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implementation-step-4-index">
            <a:extLst xmlns:a="http://schemas.openxmlformats.org/drawingml/2006/main">
              <a:ext uri="{FF2B5EF4-FFF2-40B4-BE49-F238E27FC236}">
                <a16:creationId xmlns:a16="http://schemas.microsoft.com/office/drawing/2014/main" id="{E7215C51-8F6D-43A8-85BB-F7BE1828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implementation-step-4-label">
            <a:extLst xmlns:a="http://schemas.openxmlformats.org/drawingml/2006/main">
              <a:ext uri="{FF2B5EF4-FFF2-40B4-BE49-F238E27FC236}">
                <a16:creationId xmlns:a16="http://schemas.microsoft.com/office/drawing/2014/main" id="{44A7C38F-C076-45F4-9A67-337048C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Two-hop BFS</a:t>
            </a:r>
          </a:p>
        </p:txBody>
      </p:sp>
      <p:sp>
        <p:nvSpPr>
          <p:cNvPr id="22" name="implementation-step-4-detail">
            <a:extLst xmlns:a="http://schemas.openxmlformats.org/drawingml/2006/main">
              <a:ext uri="{FF2B5EF4-FFF2-40B4-BE49-F238E27FC236}">
                <a16:creationId xmlns:a16="http://schemas.microsoft.com/office/drawing/2014/main" id="{12B3B2F1-0C31-4055-840C-B9C699A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Traversal selects only the evidence needed for synthesis.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B17A9FA-7069-4960-A121-511D0434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577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implementation-step-5-index">
            <a:extLst xmlns:a="http://schemas.openxmlformats.org/drawingml/2006/main">
              <a:ext uri="{FF2B5EF4-FFF2-40B4-BE49-F238E27FC236}">
                <a16:creationId xmlns:a16="http://schemas.microsoft.com/office/drawing/2014/main" id="{B7754003-B8D2-4D29-A35A-113DDC7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149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implementation-step-5-label">
            <a:extLst xmlns:a="http://schemas.openxmlformats.org/drawingml/2006/main">
              <a:ext uri="{FF2B5EF4-FFF2-40B4-BE49-F238E27FC236}">
                <a16:creationId xmlns:a16="http://schemas.microsoft.com/office/drawing/2014/main" id="{E790F6F9-9189-498A-8AD5-304FB3BE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149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Claim check</a:t>
            </a:r>
          </a:p>
        </p:txBody>
      </p:sp>
      <p:sp>
        <p:nvSpPr>
          <p:cNvPr id="26" name="implementation-step-5-detail">
            <a:extLst xmlns:a="http://schemas.openxmlformats.org/drawingml/2006/main">
              <a:ext uri="{FF2B5EF4-FFF2-40B4-BE49-F238E27FC236}">
                <a16:creationId xmlns:a16="http://schemas.microsoft.com/office/drawing/2014/main" id="{930D7667-EC5F-49FB-93D2-C02AD0B1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959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Exact edge, conflicting predicate, or no evidence.</a:t>
            </a:r>
          </a:p>
        </p:txBody>
      </p:sp>
    </p:spTree>
    <p:extLst>
      <p:ext uri="{BB962C8B-B14F-4D97-AF65-F5344CB8AC3E}">
        <p14:creationId xmlns:p14="http://schemas.microsoft.com/office/powerpoint/2010/main" val="302554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0CAB313-1F97-4E03-AA18-8D63405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two-hop query pulls facts no worker saw together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6092FD0-3E8F-4916-A74D-A1158DC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3845269F-8F9D-4F27-A576-D82AA58A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examples/graph-memory/demo.mjs. Playbook basis: Graph-Engineering-Athropic-Playbook.pdf, pp. 5-6.</a:t>
            </a:r>
          </a:p>
        </p:txBody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83E39443-D097-4DF7-B551-8016B09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node-acme">
            <a:extLst xmlns:a="http://schemas.openxmlformats.org/drawingml/2006/main">
              <a:ext uri="{FF2B5EF4-FFF2-40B4-BE49-F238E27FC236}">
                <a16:creationId xmlns:a16="http://schemas.microsoft.com/office/drawing/2014/main" id="{9AB895A1-11F7-4E8F-8460-E81E7DF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241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node-product">
            <a:extLst xmlns:a="http://schemas.openxmlformats.org/drawingml/2006/main">
              <a:ext uri="{FF2B5EF4-FFF2-40B4-BE49-F238E27FC236}">
                <a16:creationId xmlns:a16="http://schemas.microsoft.com/office/drawing/2014/main" id="{B6147D39-3530-4EBD-B0BA-4545A19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9545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node-price">
            <a:extLst xmlns:a="http://schemas.openxmlformats.org/drawingml/2006/main">
              <a:ext uri="{FF2B5EF4-FFF2-40B4-BE49-F238E27FC236}">
                <a16:creationId xmlns:a16="http://schemas.microsoft.com/office/drawing/2014/main" id="{BAD4B826-5D66-475D-A9C6-D140A53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958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node-patent">
            <a:extLst xmlns:a="http://schemas.openxmlformats.org/drawingml/2006/main">
              <a:ext uri="{FF2B5EF4-FFF2-40B4-BE49-F238E27FC236}">
                <a16:creationId xmlns:a16="http://schemas.microsoft.com/office/drawing/2014/main" id="{8CF3823A-A5D7-45A9-92E9-DE9BFE9F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9545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node-engine">
            <a:extLst xmlns:a="http://schemas.openxmlformats.org/drawingml/2006/main">
              <a:ext uri="{FF2B5EF4-FFF2-40B4-BE49-F238E27FC236}">
                <a16:creationId xmlns:a16="http://schemas.microsoft.com/office/drawing/2014/main" id="{86BB82B7-C123-48A4-ACAE-853FAC0E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95800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node-rnd">
            <a:extLst xmlns:a="http://schemas.openxmlformats.org/drawingml/2006/main">
              <a:ext uri="{FF2B5EF4-FFF2-40B4-BE49-F238E27FC236}">
                <a16:creationId xmlns:a16="http://schemas.microsoft.com/office/drawing/2014/main" id="{262A5829-E50D-4864-8313-1A53A4F5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720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7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286125" y="2066925"/>
            <a:ext cx="16192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90750" y="2438400"/>
            <a:ext cx="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286625" y="2066925"/>
            <a:ext cx="16192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001250" y="2438400"/>
            <a:ext cx="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600450"/>
            <a:ext cx="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arrow" w="med" len="med"/>
          </a:ln>
        </p:spPr>
      </p:cxnSp>
      <p:sp>
        <p:nvSpPr>
          <p:cNvPr id="16" name="label-acme">
            <a:extLst xmlns:a="http://schemas.openxmlformats.org/drawingml/2006/main">
              <a:ext uri="{FF2B5EF4-FFF2-40B4-BE49-F238E27FC236}">
                <a16:creationId xmlns:a16="http://schemas.microsoft.com/office/drawing/2014/main" id="{7B5299CE-C9C7-4F87-9B6C-9F2D108E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81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Acme Corp</a:t>
            </a:r>
          </a:p>
        </p:txBody>
      </p:sp>
      <p:sp>
        <p:nvSpPr>
          <p:cNvPr id="17" name="label-product">
            <a:extLst xmlns:a="http://schemas.openxmlformats.org/drawingml/2006/main">
              <a:ext uri="{FF2B5EF4-FFF2-40B4-BE49-F238E27FC236}">
                <a16:creationId xmlns:a16="http://schemas.microsoft.com/office/drawing/2014/main" id="{A8C53E6E-5DCF-4821-905F-AC2FBD17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Acme Core</a:t>
            </a:r>
          </a:p>
        </p:txBody>
      </p:sp>
      <p:sp>
        <p:nvSpPr>
          <p:cNvPr id="18" name="label-price">
            <a:extLst xmlns:a="http://schemas.openxmlformats.org/drawingml/2006/main">
              <a:ext uri="{FF2B5EF4-FFF2-40B4-BE49-F238E27FC236}">
                <a16:creationId xmlns:a16="http://schemas.microsoft.com/office/drawing/2014/main" id="{C0B20C2B-4372-4FA6-8BC9-E4C25E9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$85/month</a:t>
            </a:r>
          </a:p>
        </p:txBody>
      </p:sp>
      <p:sp>
        <p:nvSpPr>
          <p:cNvPr id="19" name="label-patent">
            <a:extLst xmlns:a="http://schemas.openxmlformats.org/drawingml/2006/main">
              <a:ext uri="{FF2B5EF4-FFF2-40B4-BE49-F238E27FC236}">
                <a16:creationId xmlns:a16="http://schemas.microsoft.com/office/drawing/2014/main" id="{1A335DDA-59CE-440D-BAEF-1D02F2A3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14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PX-9 patent</a:t>
            </a:r>
          </a:p>
        </p:txBody>
      </p:sp>
      <p:sp>
        <p:nvSpPr>
          <p:cNvPr id="20" name="label-engine">
            <a:extLst xmlns:a="http://schemas.openxmlformats.org/drawingml/2006/main">
              <a:ext uri="{FF2B5EF4-FFF2-40B4-BE49-F238E27FC236}">
                <a16:creationId xmlns:a16="http://schemas.microsoft.com/office/drawing/2014/main" id="{09081B89-C87E-4533-91EB-1279BA55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76775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 inference engine</a:t>
            </a:r>
          </a:p>
        </p:txBody>
      </p:sp>
      <p:sp>
        <p:nvSpPr>
          <p:cNvPr id="21" name="label-rnd">
            <a:extLst xmlns:a="http://schemas.openxmlformats.org/drawingml/2006/main">
              <a:ext uri="{FF2B5EF4-FFF2-40B4-BE49-F238E27FC236}">
                <a16:creationId xmlns:a16="http://schemas.microsoft.com/office/drawing/2014/main" id="{8D273E33-160C-45D5-9707-B28326C5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91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R&amp;D spending</a:t>
            </a:r>
          </a:p>
        </p:txBody>
      </p:sp>
      <p:sp>
        <p:nvSpPr>
          <p:cNvPr id="22" name="edge-offers">
            <a:extLst xmlns:a="http://schemas.openxmlformats.org/drawingml/2006/main">
              <a:ext uri="{FF2B5EF4-FFF2-40B4-BE49-F238E27FC236}">
                <a16:creationId xmlns:a16="http://schemas.microsoft.com/office/drawing/2014/main" id="{F8957883-A1F4-4174-811D-C16043DA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offers</a:t>
            </a:r>
          </a:p>
        </p:txBody>
      </p:sp>
      <p:sp>
        <p:nvSpPr>
          <p:cNvPr id="23" name="edge-price">
            <a:extLst xmlns:a="http://schemas.openxmlformats.org/drawingml/2006/main">
              <a:ext uri="{FF2B5EF4-FFF2-40B4-BE49-F238E27FC236}">
                <a16:creationId xmlns:a16="http://schemas.microsoft.com/office/drawing/2014/main" id="{E911DEC4-7C24-4FF1-A038-69C48C8D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priced at</a:t>
            </a:r>
          </a:p>
        </p:txBody>
      </p:sp>
      <p:sp>
        <p:nvSpPr>
          <p:cNvPr id="24" name="edge-filed">
            <a:extLst xmlns:a="http://schemas.openxmlformats.org/drawingml/2006/main">
              <a:ext uri="{FF2B5EF4-FFF2-40B4-BE49-F238E27FC236}">
                <a16:creationId xmlns:a16="http://schemas.microsoft.com/office/drawing/2014/main" id="{7FCC34F3-7D42-4CA6-9995-105345AA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24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filed</a:t>
            </a:r>
          </a:p>
        </p:txBody>
      </p:sp>
      <p:sp>
        <p:nvSpPr>
          <p:cNvPr id="25" name="edge-covers">
            <a:extLst xmlns:a="http://schemas.openxmlformats.org/drawingml/2006/main">
              <a:ext uri="{FF2B5EF4-FFF2-40B4-BE49-F238E27FC236}">
                <a16:creationId xmlns:a16="http://schemas.microsoft.com/office/drawing/2014/main" id="{9FDDBEEE-7C49-409D-BB9E-FC9BD8FC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24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covers</a:t>
            </a:r>
          </a:p>
        </p:txBody>
      </p:sp>
      <p:sp>
        <p:nvSpPr>
          <p:cNvPr id="26" name="edge-doubled">
            <a:extLst xmlns:a="http://schemas.openxmlformats.org/drawingml/2006/main">
              <a:ext uri="{FF2B5EF4-FFF2-40B4-BE49-F238E27FC236}">
                <a16:creationId xmlns:a16="http://schemas.microsoft.com/office/drawing/2014/main" id="{EAFA217F-E639-4A9C-A454-83C267C9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62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doubled</a:t>
            </a:r>
          </a:p>
        </p:txBody>
      </p:sp>
    </p:spTree>
    <p:extLst>
      <p:ext uri="{BB962C8B-B14F-4D97-AF65-F5344CB8AC3E}">
        <p14:creationId xmlns:p14="http://schemas.microsoft.com/office/powerpoint/2010/main" val="16962733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CE66BB7-29C0-4788-AE76-411A1C7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Grounding makes the answer auditable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562D6BC-104E-4876-8AF1-470CD4E8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951DB2F4-1623-4523-B251-66B344D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examples/graph-memory/demo.mjs. Playbook basis: Graph-Engineering-Athropic-Playbook.pdf, pp. 5 and 12.</a:t>
            </a:r>
          </a:p>
        </p:txBody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8945663C-AD08-4EF4-A7A8-114334DA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81B6F256-44A3-44BA-9D04-298E855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9542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Question: What signals suggest Acme is preparing a product expansion?</a:t>
            </a:r>
          </a:p>
        </p:txBody>
      </p:sp>
      <p:sp>
        <p:nvSpPr>
          <p:cNvPr id="6" name="evidence-1-number">
            <a:extLst xmlns:a="http://schemas.openxmlformats.org/drawingml/2006/main">
              <a:ext uri="{FF2B5EF4-FFF2-40B4-BE49-F238E27FC236}">
                <a16:creationId xmlns:a16="http://schemas.microsoft.com/office/drawing/2014/main" id="{E741D6A5-A3DA-45E3-93A9-8E3A09C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evidence-1-triple">
            <a:extLst xmlns:a="http://schemas.openxmlformats.org/drawingml/2006/main">
              <a:ext uri="{FF2B5EF4-FFF2-40B4-BE49-F238E27FC236}">
                <a16:creationId xmlns:a16="http://schemas.microsoft.com/office/drawing/2014/main" id="{B30D2618-3AF8-4B12-9A01-A5B11642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 Core --[priced at]--&gt; $85/month</a:t>
            </a:r>
          </a:p>
        </p:txBody>
      </p:sp>
      <p:sp>
        <p:nvSpPr>
          <p:cNvPr id="8" name="evidence-1-source">
            <a:extLst xmlns:a="http://schemas.openxmlformats.org/drawingml/2006/main">
              <a:ext uri="{FF2B5EF4-FFF2-40B4-BE49-F238E27FC236}">
                <a16:creationId xmlns:a16="http://schemas.microsoft.com/office/drawing/2014/main" id="{D86E2725-2F26-4490-A56D-96B8E684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24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pricing-q3.html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FD04FEF3-7C6D-4483-814A-C26578C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evidence-2-number">
            <a:extLst xmlns:a="http://schemas.openxmlformats.org/drawingml/2006/main">
              <a:ext uri="{FF2B5EF4-FFF2-40B4-BE49-F238E27FC236}">
                <a16:creationId xmlns:a16="http://schemas.microsoft.com/office/drawing/2014/main" id="{4D67FCD7-3183-46EC-A777-38033D6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evidence-2-triple">
            <a:extLst xmlns:a="http://schemas.openxmlformats.org/drawingml/2006/main">
              <a:ext uri="{FF2B5EF4-FFF2-40B4-BE49-F238E27FC236}">
                <a16:creationId xmlns:a16="http://schemas.microsoft.com/office/drawing/2014/main" id="{736AEA6F-13F8-44B4-812A-4795E3E1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 Corp --[filed]--&gt; PX-9 patent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PX-9 patent --[covers]--&gt; edge inference engine</a:t>
            </a:r>
          </a:p>
        </p:txBody>
      </p:sp>
      <p:sp>
        <p:nvSpPr>
          <p:cNvPr id="12" name="evidence-2-source">
            <a:extLst xmlns:a="http://schemas.openxmlformats.org/drawingml/2006/main">
              <a:ext uri="{FF2B5EF4-FFF2-40B4-BE49-F238E27FC236}">
                <a16:creationId xmlns:a16="http://schemas.microsoft.com/office/drawing/2014/main" id="{23E7A4B3-910A-40FA-9666-9554D30E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patent-px9.txt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6D1C85EC-D332-400B-9201-5FD308B3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evidence-3-number">
            <a:extLst xmlns:a="http://schemas.openxmlformats.org/drawingml/2006/main">
              <a:ext uri="{FF2B5EF4-FFF2-40B4-BE49-F238E27FC236}">
                <a16:creationId xmlns:a16="http://schemas.microsoft.com/office/drawing/2014/main" id="{B94415F1-D29D-413E-9033-BD807BA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evidence-3-triple">
            <a:extLst xmlns:a="http://schemas.openxmlformats.org/drawingml/2006/main">
              <a:ext uri="{FF2B5EF4-FFF2-40B4-BE49-F238E27FC236}">
                <a16:creationId xmlns:a16="http://schemas.microsoft.com/office/drawing/2014/main" id="{2A5704C5-E338-4184-AFC4-221D43A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Acme Corp --[doubled]--&gt; R&amp;D spending</a:t>
            </a:r>
          </a:p>
        </p:txBody>
      </p:sp>
      <p:sp>
        <p:nvSpPr>
          <p:cNvPr id="16" name="evidence-3-source">
            <a:extLst xmlns:a="http://schemas.openxmlformats.org/drawingml/2006/main">
              <a:ext uri="{FF2B5EF4-FFF2-40B4-BE49-F238E27FC236}">
                <a16:creationId xmlns:a16="http://schemas.microsoft.com/office/drawing/2014/main" id="{15697D32-DE18-4CF3-B115-8629C995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q3-filing.txt</a:t>
            </a:r>
          </a:p>
        </p:txBody>
      </p:sp>
      <p:sp>
        <p:nvSpPr>
          <p:cNvPr id="17" name="inference-band">
            <a:extLst xmlns:a="http://schemas.openxmlformats.org/drawingml/2006/main">
              <a:ext uri="{FF2B5EF4-FFF2-40B4-BE49-F238E27FC236}">
                <a16:creationId xmlns:a16="http://schemas.microsoft.com/office/drawing/2014/main" id="{69533188-82E4-44FB-A7BD-1CB5553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inference-text">
            <a:extLst xmlns:a="http://schemas.openxmlformats.org/drawingml/2006/main">
              <a:ext uri="{FF2B5EF4-FFF2-40B4-BE49-F238E27FC236}">
                <a16:creationId xmlns:a16="http://schemas.microsoft.com/office/drawing/2014/main" id="{7593595F-FE01-4D33-AD4F-5B3BDE19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Inference: the three signals are consistent with expansion. The inference is labeled; it is not stored as a graph fact.</a:t>
            </a:r>
          </a:p>
        </p:txBody>
      </p:sp>
    </p:spTree>
    <p:extLst>
      <p:ext uri="{BB962C8B-B14F-4D97-AF65-F5344CB8AC3E}">
        <p14:creationId xmlns:p14="http://schemas.microsoft.com/office/powerpoint/2010/main" val="1502454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ECE6D59-BFD2-490F-9D3E-68F6B77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same graph turns an evaluator into a fact-checker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5D4317B-5F2F-45A1-865F-48AF0B8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2CB306EB-298A-43B9-B9C9-F74E51B8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p. 6. Example: examples/graph-memory/demo.mjs.</a:t>
            </a:r>
          </a:p>
        </p:txBody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F9EAB495-8E0D-4582-99E1-E1F23546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" name="evaluator-lede">
            <a:extLst xmlns:a="http://schemas.openxmlformats.org/drawingml/2006/main">
              <a:ext uri="{FF2B5EF4-FFF2-40B4-BE49-F238E27FC236}">
                <a16:creationId xmlns:a16="http://schemas.microsoft.com/office/drawing/2014/main" id="{4B1A400C-70A9-445B-B1A5-0E76F1D5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demo classifies claims by comparing them with canonical graph edges.</a:t>
            </a:r>
          </a:p>
        </p:txBody>
      </p:sp>
      <p:sp>
        <p:nvSpPr>
          <p:cNvPr id="6" name="claim-card-1">
            <a:extLst xmlns:a="http://schemas.openxmlformats.org/drawingml/2006/main">
              <a:ext uri="{FF2B5EF4-FFF2-40B4-BE49-F238E27FC236}">
                <a16:creationId xmlns:a16="http://schemas.microsoft.com/office/drawing/2014/main" id="{BFCC0D15-3BF6-4693-A9DD-8D0E005F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3333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28575">
            <a:solidFill>
              <a:srgbClr val="1B7F5A"/>
            </a:solidFill>
            <a:prstDash val="solid"/>
          </a:ln>
        </p:spPr>
      </p:sp>
      <p:sp>
        <p:nvSpPr>
          <p:cNvPr id="7" name="claim-card-1-status">
            <a:extLst xmlns:a="http://schemas.openxmlformats.org/drawingml/2006/main">
              <a:ext uri="{FF2B5EF4-FFF2-40B4-BE49-F238E27FC236}">
                <a16:creationId xmlns:a16="http://schemas.microsoft.com/office/drawing/2014/main" id="{12A1BB65-6E1D-4860-926B-9163717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B7F5A"/>
                </a:solidFill>
                <a:latin typeface="Helvetica Neue"/>
                <a:ea typeface="Helvetica Neue"/>
                <a:cs typeface="Helvetica Neue"/>
              </a:rPr>
              <a:t>SUPPORTED</a:t>
            </a:r>
          </a:p>
        </p:txBody>
      </p:sp>
      <p:sp>
        <p:nvSpPr>
          <p:cNvPr id="8" name="claim-card-1-claim">
            <a:extLst xmlns:a="http://schemas.openxmlformats.org/drawingml/2006/main">
              <a:ext uri="{FF2B5EF4-FFF2-40B4-BE49-F238E27FC236}">
                <a16:creationId xmlns:a16="http://schemas.microsoft.com/office/drawing/2014/main" id="{9AC68133-DFFD-4B3A-A8A9-8D098CCC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Acme filed PX-9 patent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B1399DC7-E522-49F5-87EF-1E08D3A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claim-card-1-evidence">
            <a:extLst xmlns:a="http://schemas.openxmlformats.org/drawingml/2006/main">
              <a:ext uri="{FF2B5EF4-FFF2-40B4-BE49-F238E27FC236}">
                <a16:creationId xmlns:a16="http://schemas.microsoft.com/office/drawing/2014/main" id="{1F923DE0-733E-4B04-8A36-91386927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Acme Corp --[filed]--&gt; PX-9 patent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[patent-px9.txt]</a:t>
            </a:r>
          </a:p>
        </p:txBody>
      </p:sp>
      <p:sp>
        <p:nvSpPr>
          <p:cNvPr id="11" name="claim-card-2">
            <a:extLst xmlns:a="http://schemas.openxmlformats.org/drawingml/2006/main">
              <a:ext uri="{FF2B5EF4-FFF2-40B4-BE49-F238E27FC236}">
                <a16:creationId xmlns:a16="http://schemas.microsoft.com/office/drawing/2014/main" id="{D22A9181-A49E-4957-8C2D-A0804F91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3333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28575">
            <a:solidFill>
              <a:srgbClr val="B33A3A"/>
            </a:solidFill>
            <a:prstDash val="solid"/>
          </a:ln>
        </p:spPr>
      </p:sp>
      <p:sp>
        <p:nvSpPr>
          <p:cNvPr id="12" name="claim-card-2-status">
            <a:extLst xmlns:a="http://schemas.openxmlformats.org/drawingml/2006/main">
              <a:ext uri="{FF2B5EF4-FFF2-40B4-BE49-F238E27FC236}">
                <a16:creationId xmlns:a16="http://schemas.microsoft.com/office/drawing/2014/main" id="{CDF2D67B-8717-47D4-9C96-C3C7706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33A3A"/>
                </a:solidFill>
                <a:latin typeface="Helvetica Neue"/>
                <a:ea typeface="Helvetica Neue"/>
                <a:cs typeface="Helvetica Neue"/>
              </a:rPr>
              <a:t>CONTRADICTED</a:t>
            </a:r>
          </a:p>
        </p:txBody>
      </p:sp>
      <p:sp>
        <p:nvSpPr>
          <p:cNvPr id="13" name="claim-card-2-claim">
            <a:extLst xmlns:a="http://schemas.openxmlformats.org/drawingml/2006/main">
              <a:ext uri="{FF2B5EF4-FFF2-40B4-BE49-F238E27FC236}">
                <a16:creationId xmlns:a16="http://schemas.microsoft.com/office/drawing/2014/main" id="{FCECF4F3-86C2-4B0F-8AEE-DC7F78B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Acme withdrew PX-9 patent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E85C678-70C9-4591-9805-1B9E32F5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claim-card-2-evidence">
            <a:extLst xmlns:a="http://schemas.openxmlformats.org/drawingml/2006/main">
              <a:ext uri="{FF2B5EF4-FFF2-40B4-BE49-F238E27FC236}">
                <a16:creationId xmlns:a16="http://schemas.microsoft.com/office/drawing/2014/main" id="{C262AF0E-1EFD-46CF-AEBD-9F9ADFE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Conflicting edge: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Acme Corp --[filed]--&gt; PX-9 patent</a:t>
            </a:r>
          </a:p>
        </p:txBody>
      </p:sp>
      <p:sp>
        <p:nvSpPr>
          <p:cNvPr id="16" name="claim-card-3">
            <a:extLst xmlns:a="http://schemas.openxmlformats.org/drawingml/2006/main">
              <a:ext uri="{FF2B5EF4-FFF2-40B4-BE49-F238E27FC236}">
                <a16:creationId xmlns:a16="http://schemas.microsoft.com/office/drawing/2014/main" id="{AD8C16FC-9209-4C79-A2B8-DD0F2B6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333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28575">
            <a:solidFill>
              <a:srgbClr val="9B6500"/>
            </a:solidFill>
            <a:prstDash val="solid"/>
          </a:ln>
        </p:spPr>
      </p:sp>
      <p:sp>
        <p:nvSpPr>
          <p:cNvPr id="17" name="claim-card-3-status">
            <a:extLst xmlns:a="http://schemas.openxmlformats.org/drawingml/2006/main">
              <a:ext uri="{FF2B5EF4-FFF2-40B4-BE49-F238E27FC236}">
                <a16:creationId xmlns:a16="http://schemas.microsoft.com/office/drawing/2014/main" id="{3B29E1E7-D7FD-4FFF-A052-534690C9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9B6500"/>
                </a:solidFill>
                <a:latin typeface="Helvetica Neue"/>
                <a:ea typeface="Helvetica Neue"/>
                <a:cs typeface="Helvetica Neue"/>
              </a:rPr>
              <a:t>UNSUPPORTED</a:t>
            </a:r>
          </a:p>
        </p:txBody>
      </p:sp>
      <p:sp>
        <p:nvSpPr>
          <p:cNvPr id="18" name="claim-card-3-claim">
            <a:extLst xmlns:a="http://schemas.openxmlformats.org/drawingml/2006/main">
              <a:ext uri="{FF2B5EF4-FFF2-40B4-BE49-F238E27FC236}">
                <a16:creationId xmlns:a16="http://schemas.microsoft.com/office/drawing/2014/main" id="{DF9CBF1D-61B5-4218-9880-1FC033F6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Acme acquired Northstar Labs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92E26B4-768D-4DD7-9966-107367E2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claim-card-3-evidence">
            <a:extLst xmlns:a="http://schemas.openxmlformats.org/drawingml/2006/main">
              <a:ext uri="{FF2B5EF4-FFF2-40B4-BE49-F238E27FC236}">
                <a16:creationId xmlns:a16="http://schemas.microsoft.com/office/drawing/2014/main" id="{1039DC53-8041-46BA-9330-43593109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876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No subject-predicate-object edge exists.</a:t>
            </a:r>
          </a:p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368"/>
                </a:solidFill>
                <a:latin typeface="Menlo"/>
                <a:ea typeface="Menlo"/>
                <a:cs typeface="Menlo"/>
              </a:rPr>
              <a:t>Escalate or retrieve more evidence.</a:t>
            </a:r>
          </a:p>
        </p:txBody>
      </p:sp>
    </p:spTree>
    <p:extLst>
      <p:ext uri="{BB962C8B-B14F-4D97-AF65-F5344CB8AC3E}">
        <p14:creationId xmlns:p14="http://schemas.microsoft.com/office/powerpoint/2010/main" val="529027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B909711-EC35-46DD-A998-720E8EA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the demo, then harden the model boundaries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8A0B293-3955-4618-90A6-5E12CFF5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F5F68AD6-11F9-4648-8DF4-A3EEECB4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Source: Graph-Engineering-Athropic-Playbook.pdf, pp. 7-11. Implementation: examples/graph-memory/.</a:t>
            </a:r>
          </a:p>
        </p:txBody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2862B578-C7CB-4D11-A013-45E39A5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un-region">
            <a:extLst xmlns:a="http://schemas.openxmlformats.org/drawingml/2006/main">
              <a:ext uri="{FF2B5EF4-FFF2-40B4-BE49-F238E27FC236}">
                <a16:creationId xmlns:a16="http://schemas.microsoft.com/office/drawing/2014/main" id="{7A30BDBE-8DCD-4CB6-8FC4-E6A2292F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solidFill>
              <a:srgbClr val="151719"/>
            </a:solidFill>
            <a:prstDash val="solid"/>
          </a:ln>
        </p:spPr>
      </p:sp>
      <p:sp>
        <p:nvSpPr>
          <p:cNvPr id="6" name="run-kicker">
            <a:extLst xmlns:a="http://schemas.openxmlformats.org/drawingml/2006/main">
              <a:ext uri="{FF2B5EF4-FFF2-40B4-BE49-F238E27FC236}">
                <a16:creationId xmlns:a16="http://schemas.microsoft.com/office/drawing/2014/main" id="{69BAE9C5-9338-4D5C-ABA2-2712FFF8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EDFA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D0EDFA"/>
                </a:solidFill>
                <a:latin typeface="Menlo"/>
                <a:ea typeface="Menlo"/>
                <a:cs typeface="Menlo"/>
              </a:rPr>
              <a:t>RUN</a:t>
            </a:r>
          </a:p>
        </p:txBody>
      </p:sp>
      <p:sp>
        <p:nvSpPr>
          <p:cNvPr id="7" name="run-commands">
            <a:extLst xmlns:a="http://schemas.openxmlformats.org/drawingml/2006/main">
              <a:ext uri="{FF2B5EF4-FFF2-40B4-BE49-F238E27FC236}">
                <a16:creationId xmlns:a16="http://schemas.microsoft.com/office/drawing/2014/main" id="{2BED80EB-546E-47B7-8FBC-A29C4768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run demo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npm test</a:t>
            </a:r>
          </a:p>
        </p:txBody>
      </p:sp>
      <p:sp>
        <p:nvSpPr>
          <p:cNvPr id="8" name="run-result">
            <a:extLst xmlns:a="http://schemas.openxmlformats.org/drawingml/2006/main">
              <a:ext uri="{FF2B5EF4-FFF2-40B4-BE49-F238E27FC236}">
                <a16:creationId xmlns:a16="http://schemas.microsoft.com/office/drawing/2014/main" id="{C69C418D-E6B4-4FB8-8DF3-64FD8D0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example passes four tests: alias merging, two-hop traversal, provenance coverage, and claim classification.</a:t>
            </a:r>
          </a:p>
        </p:txBody>
      </p:sp>
      <p:sp>
        <p:nvSpPr>
          <p:cNvPr id="9" name="controls-title">
            <a:extLst xmlns:a="http://schemas.openxmlformats.org/drawingml/2006/main">
              <a:ext uri="{FF2B5EF4-FFF2-40B4-BE49-F238E27FC236}">
                <a16:creationId xmlns:a16="http://schemas.microsoft.com/office/drawing/2014/main" id="{715A4CD6-31CE-42C8-B047-51B42D42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Production controls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3CC1C1AF-E65E-4483-B38A-A66AF952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16F2301-A6C1-4767-A6D3-ABF229E3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Live schema-constrained extraction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0C278FF5-0F1E-411C-82D8-4FE1710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1B06D1B-C297-4756-BCAD-2C9AA0D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Blocked, lossless entity resolution</a:t>
            </a:r>
          </a:p>
        </p:txBody>
      </p:sp>
      <p:sp>
        <p:nvSpPr>
          <p:cNvPr id="14" name="bullet">
            <a:extLst xmlns:a="http://schemas.openxmlformats.org/drawingml/2006/main">
              <a:ext uri="{FF2B5EF4-FFF2-40B4-BE49-F238E27FC236}">
                <a16:creationId xmlns:a16="http://schemas.microsoft.com/office/drawing/2014/main" id="{2F2E2CD8-2B83-4CDB-B3B6-311C8E6D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F8F3893-DD15-49BE-8696-95863811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Persistent storage and incremental updates</a:t>
            </a:r>
          </a:p>
        </p:txBody>
      </p:sp>
      <p:sp>
        <p:nvSpPr>
          <p:cNvPr id="16" name="bullet">
            <a:extLst xmlns:a="http://schemas.openxmlformats.org/drawingml/2006/main">
              <a:ext uri="{FF2B5EF4-FFF2-40B4-BE49-F238E27FC236}">
                <a16:creationId xmlns:a16="http://schemas.microsoft.com/office/drawing/2014/main" id="{16235EF8-1E4E-4505-B3BC-8F0DCA19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9552BEE-3271-4BB2-893E-72D10BB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Gold-set precision / recall evaluation</a:t>
            </a:r>
          </a:p>
        </p:txBody>
      </p:sp>
      <p:sp>
        <p:nvSpPr>
          <p:cNvPr id="18" name="bullet">
            <a:extLst xmlns:a="http://schemas.openxmlformats.org/drawingml/2006/main">
              <a:ext uri="{FF2B5EF4-FFF2-40B4-BE49-F238E27FC236}">
                <a16:creationId xmlns:a16="http://schemas.microsoft.com/office/drawing/2014/main" id="{4BE85B18-B18B-4798-AD1F-4040B88B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765541D-AC62-4DBF-884E-94A5FB72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38700"/>
            <a:ext cx="512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Connectivity, volume, cost, and human sampling</a:t>
            </a:r>
          </a:p>
        </p:txBody>
      </p:sp>
      <p:sp>
        <p:nvSpPr>
          <p:cNvPr id="20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C7167CD1-2876-4FD0-87E8-185983C5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4258E409-3033-4C86-9117-8852B64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51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judgment in prompts and agents. Keep shared state, provenance, and verification in the graph.</a:t>
            </a:r>
          </a:p>
        </p:txBody>
      </p:sp>
    </p:spTree>
    <p:extLst>
      <p:ext uri="{BB962C8B-B14F-4D97-AF65-F5344CB8AC3E}">
        <p14:creationId xmlns:p14="http://schemas.microsoft.com/office/powerpoint/2010/main" val="302134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2026-07-24T03:44:09.9040000Z</dcterms:created>
  <dcterms:modified xsi:type="dcterms:W3CDTF">2026-07-24T03:44:09.9040000Z</dcterms:modified>
</coreProperties>
</file>